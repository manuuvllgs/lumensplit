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61" r:id="rId23"/>
    <p:sldId id="258" r:id="rId8"/>
    <p:sldId id="262" r:id="rId24"/>
    <p:sldId id="263" r:id="rId25"/>
    <p:sldId id="259" r:id="rId9"/>
    <p:sldId id="264" r:id="rId26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font" Target="fonts/InstrumentSans-regular.fntdata"/><Relationship Id="rId12" Type="http://schemas.openxmlformats.org/officeDocument/2006/relationships/font" Target="fonts/InstrumentSans-bold.fntdata"/><Relationship Id="rId13" Type="http://schemas.openxmlformats.org/officeDocument/2006/relationships/font" Target="fonts/InstrumentSans-italic.fntdata"/><Relationship Id="rId14" Type="http://schemas.openxmlformats.org/officeDocument/2006/relationships/font" Target="fonts/InstrumentSans-boldItalic.fntdata"/><Relationship Id="rId15" Type="http://schemas.openxmlformats.org/officeDocument/2006/relationships/font" Target="fonts/InterTight-regular.fntdata"/><Relationship Id="rId16" Type="http://schemas.openxmlformats.org/officeDocument/2006/relationships/font" Target="fonts/InterTight-bold.fntdata"/><Relationship Id="rId17" Type="http://schemas.openxmlformats.org/officeDocument/2006/relationships/font" Target="fonts/InterTight-italic.fntdata"/><Relationship Id="rId18" Type="http://schemas.openxmlformats.org/officeDocument/2006/relationships/font" Target="fonts/InterTight-boldItalic.fntdata"/><Relationship Id="rId19" Type="http://schemas.openxmlformats.org/officeDocument/2006/relationships/font" Target="fonts/JetBrainsMono-regular.fntdata"/><Relationship Id="rId20" Type="http://schemas.openxmlformats.org/officeDocument/2006/relationships/font" Target="fonts/JetBrainsMono-bold.fntdata"/><Relationship Id="rId21" Type="http://schemas.openxmlformats.org/officeDocument/2006/relationships/font" Target="fonts/JetBrainsMono-italic.fntdata"/><Relationship Id="rId22" Type="http://schemas.openxmlformats.org/officeDocument/2006/relationships/font" Target="fonts/JetBrainsMono-boldItalic.fntdata"/><Relationship Id="rId23" Type="http://schemas.openxmlformats.org/officeDocument/2006/relationships/slide" Target="slides/slide3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09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SPLIT BILLS WITH FRIENDS · ON STELLAR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LUMENSPLIT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SETTLE IN SECONDS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09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KEY FEATURES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Tracking and paying, in the same place.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Soroban contract keeps the ledger and finds the fewest payments.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Settle all: every debt, one signature, one atomic transaction.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Money arrives in about 5 seconds, for a fraction of a cent.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crypto jargon: names, amounts and a “Pay” button.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Why it wins: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payment is inside the app, not an IOU.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Picture 123" descr="screenshot-se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0" y="3931920"/>
            <a:ext cx="4480560" cy="2520315"/>
          </a:xfrm>
          <a:prstGeom prst="rect">
            <a:avLst/>
          </a:prstGeom>
          <a:ln w="19050">
            <a:solidFill>
              <a:srgbClr val="0F0F0F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09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KEY FEATURES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Built for paying back, not just keeping score.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Pay in euros: Stellar’s AMM converts; your friend gets the exact amount.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Join by link or QR; only the invite’s hash is stored on-chain.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Equal or custom splits; the ledger always sums to zero.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Overpay protection: pay only what you owe, to who is owed.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Also: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English, Spanish, Portuguese · light and dark mode · installable PWA.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Picture 123" descr="screenshot-group-b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0" y="3931920"/>
            <a:ext cx="4480560" cy="2520315"/>
          </a:xfrm>
          <a:prstGeom prst="rect">
            <a:avLst/>
          </a:prstGeom>
          <a:ln w="19050">
            <a:solidFill>
              <a:srgbClr val="0F0F0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09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GO-TO-MARKET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Splitting is easy to track and annoying to pay.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Splitwise and Tricount keep the score; the money moves elsewhere, or never.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Small debts linger, and asking a friend for 12 € feels awkward.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borders, slow transfers and fees can be bigger than the debt.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International students and travel groups feel it most.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Who cares: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anyone who has waited weeks for a friend abroad to pay them back.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09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WHY STELLAR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GO-TO-MARKET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Start where paying back hurts most.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Entry wedge: international students and Erasmus flatmates.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Next: travel groups and digital nomads; then shared flats.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Revenue: small fee on cross-currency settlements; premium groups.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Roadmap: EURC/USDC, cash-out via anchors (SEP-24), mainnet, mobile.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Built so far: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groups, splits, settle all, invites, pay in euros, passkeys.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06 / 09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WHY STELLAR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Paying back 3 € finally makes sense.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~5 s finality and fees far below a cent per settlement.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Native path payments + AMM: pay in one currency, receive another.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Stellar Asset Contracts: Soroban moves real XLM, no wrapping.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Anchors (next): cash out to a bank account in your own currency.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Only on Stellar: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payments, FX and smart contracts in one network.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Picture 123" descr="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0" y="3931920"/>
            <a:ext cx="4480560" cy="2520315"/>
          </a:xfrm>
          <a:prstGeom prst="rect">
            <a:avLst/>
          </a:prstGeom>
          <a:ln w="19050">
            <a:solidFill>
              <a:srgbClr val="0F0F0F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07 / 09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PASSKEYS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Web app → wallet → Soroban contract → Stellar payment.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React PWA (ES · EN · PT) on Vercel; Freighter or a Nido passkey signs.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Contract: groups, custom splits, fewest payments, settle_all, invites.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XLM moves via its Asset Contract; euros via a path payment on the AMM.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on testnet, contract tests passing, receipts on stellar.expert.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Feasible today: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everything in the demo runs on Stellar testnet.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08 / 09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PASSKEYS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extension. No seed phrase.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Nido by The Aha Company (HackMeridian partner): wallet with Touch ID.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wallet is a Soroban smart account (C… address).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Authorize LumenSplit once: 7 days, daily XLM cap enforced on-chain.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Then friends join and pay without signing every time.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Why it matters: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onboarding is the biggest barrier to paying with crypto.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Picture 123" descr="pass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0" y="3931920"/>
            <a:ext cx="4480560" cy="2520315"/>
          </a:xfrm>
          <a:prstGeom prst="rect">
            <a:avLst/>
          </a:prstGeom>
          <a:ln w="19050">
            <a:solidFill>
              <a:srgbClr val="0F0F0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09 / 09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builders, 28 hours, one working product.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Manuel Villegas · Soroban contract, deployment and integration.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Gregorio Torres · Frontend: the React app and its UX.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Alejandro Teva · Design, brand, pitch and demo video.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Try it: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lumensplit.vercel.app · youtu.be/u57OSypg87w · github.com/manuuvllgs/LumenSplit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